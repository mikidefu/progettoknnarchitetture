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32 bit (float)</c:v>
                </c:pt>
              </c:strCache>
            </c:strRef>
          </c:tx>
          <c:spPr>
            <a:solidFill>
              <a:srgbClr val="0B7A6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71A2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Scalare C</c:v>
                  </c:pt>
                  <c:pt idx="1">
                    <c:v>Intrinseci</c:v>
                  </c:pt>
                  <c:pt idx="2">
                    <c:v>Assembly</c:v>
                  </c:pt>
                  <c:pt idx="3">
                    <c:v>Asm + OpenMP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4352</c:v>
                </c:pt>
                <c:pt idx="1">
                  <c:v>2357</c:v>
                </c:pt>
                <c:pt idx="2">
                  <c:v>334</c:v>
                </c:pt>
                <c:pt idx="3">
                  <c:v>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64 bit (double)</c:v>
                </c:pt>
              </c:strCache>
            </c:strRef>
          </c:tx>
          <c:spPr>
            <a:solidFill>
              <a:srgbClr val="171A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71A2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Scalare C</c:v>
                  </c:pt>
                  <c:pt idx="1">
                    <c:v>Intrinseci</c:v>
                  </c:pt>
                  <c:pt idx="2">
                    <c:v>Assembly</c:v>
                  </c:pt>
                  <c:pt idx="3">
                    <c:v>Asm + OpenMP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4840</c:v>
                </c:pt>
                <c:pt idx="1">
                  <c:v>2542</c:v>
                </c:pt>
                <c:pt idx="2">
                  <c:v>706</c:v>
                </c:pt>
                <c:pt idx="3">
                  <c:v>109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171A2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9616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9616C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9616C"/>
                    </a:solidFill>
                    <a:latin typeface="Arial"/>
                  </a:rPr>
                  <a:t>ms (meno è meglio)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616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71A2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Buongiorno. Il progetto implementa la ricerca approssimata dei K vicini richiesta dalla traccia: quantizzazione binaria dei vettori, distanza approssimata, indice a pivot. Il focus del corso e del progetto: la stessa identica logica algoritmica portata da C scalare fino ad assembly SIMD scritto a mano e OpenMP, misurando ogni passo. In chiusura: il tutto e' anche un pacchetto Python installabile.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Numeri del workload di riferimento: n=2000, D=256, 2000 query, h=16 pivot, k=8, x=64. Il naive fa 4 milioni di distanze euclidee, circa 3 miliardi di FLOP. Le due leve della traccia: quantizzazione (riduce il costo della singola distanza) e pivot (riduce quante distanze si calcolano).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Esempio direttamente dalla traccia: v = [2.3, 1.5, -6.7, 4.5] con x=2. I due moduli piu' grandi sono -6.7 e 4.5: -6.7 e' negativo quindi accende v- in posizione 2; 4.5 positivo accende v+ in posizione 3. Nel progetto reale x=64 su D=256. Si butta la magnitudine, si tengono posizione e segno delle componenti dominanti. Implementazione con qsort su coppie (modulo, indice). Nota importante: abbiamo verificato che nei dati non ci sono pareggi, quindi nessuna ambiguita' dal qsort instabile.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distanza approssimata conta accordi meno disaccordi tra le impronte: pp e nn sono accordi (contributo positivo), pn e np disaccordi (negativo). E' un intero tra -x e +x. Punto delicato da conoscere: per vettori identici vale +x, il massimo -- quindi formalmente e' una similarita'. La traccia la tratta come distanza e ci costruisce sopra il pruning con la disuguaglianza triangolare, che per d~ non vale in senso stretto. E' un'euristica: conforme alla specifica, riproduce esattamente i file golden. Se il docente chiede 'e' una metrica?': no, e sappiamo perche'.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selezione dei pivot e' quella prescritta: passo n/h. Il build: quantizzazione dell'intero dataset, copia delle maschere dei pivot in buffer contigui, matrice delle 32.000 distanze approssimate punto-pivot. Nota di design: tutta la struttura sta in circa 1.1 MB, quindi in cache -- e' uno dei motivi per cui la fase di query scala cosi' bene. Il costo di build e' 67-193 ms, una tantum.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query: si quantizza q, si calcolano le 16 distanze dai pivot, poi per ognuno dei 2000 punti: primo filtro con soli interi pre-calcolati (scarta il 39.3%); per i sopravvissuti la distanza approssimata completa -- circa 2.43 milioni di chiamate, e' il collo di bottiglia dove abbiamo investito SIMD e assembly; alla fine l'euclidea vera solo per gli 8 finalisti. Da 4 milioni di euclidee a 16 mila: 250 volte di meno.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Scelta architetturale chiave: la logica esiste in una sola versione; il motore della distanza approssimata si commuta con macro. Cosi' il confronto prestazionale e' pulito: cambiamo solo la funzione critica. Otto target di build piu' il Benchmark_Report che lancia tutti gli eseguibili e produce la tabella comparativa txt+html.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cuore dell'assembly: ogni prodotto scalare tra maschere si riduce a un AND piu' una PSADBW. PSADBW contro il registro zero somma orizzontalmente i byte -- su vettori 0/1 e' esattamente un population count, e resta tutto nei registri vettoriali. Scelte di contorno: fast path completamente srotolato per D=256 (il caso reale), rispetto rigoroso dell'ABI Win64 con salvataggio dei registri non volatili (fondamentale: la funzione e' chiamata milioni di volte anche da thread OpenMP), load non allineate per non imporre vincoli ai chiamanti. Differenza SSE2/AVX2: la SSE2 normalizza difensivamente i byte prima del conteggio, l'AVX2 si fida del contratto 0/1 -- tre istruzioni in meno per termine.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problema e' imbarazzantemente parallelo: ogni query legge strutture immutabili e scrive nel suo segmento. Un pragma e basta. Schedule dynamic perche' il pruning rende il costo per query variabile. Dettaglio da citare: misuriamo con omp_get_wtime, non clock() -- clock() in multithread puo' sommare i tempi CPU dei thread e far sembrare il parallelo piu' lento. I due parallelismi si moltiplicano: thread sulle query, SIMD dentro la singola distanza.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numeri, misurati dal launcher automatico e committati nel repository: a 32 bit la query passa da 4352 ms scalari a 2357 con gli intrinseci, 334 con l'assembly, 88 con OpenMP -- 49 volte e mezzo. A 64 bit: 4840, 2542, 706, 109 -- 44 volte. Il salto grande e' l'assembly; OpenMP scala quasi linearmente sui 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letture oneste. Uno: il grosso del guadagno e' il cambio di motore verso l'assembly. Due: OpenMP scala quasi linearmente perche' il problema e' perfetto per il multithreading. Tre: effetto Amdahl -- ora build e query costano uguale, la prossima ottimizzazione dovrebbe puntare alla quantizzazione. Quattro, da dire prima che lo chiedano: i target scalare e intrinseci compilano senza -O3, quindi il rapporto asm/intrinseci e' in parte gonfiato dalla mancata ottimizzazione del compilatore; lo dichiariamo in relazione come nota metodologica.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pacchetto Python non reimplementa nulla: tre strati sottili portano gli array NumPy fino allo stesso nucleo C+assembly degli eseguibili, per puntatore e senza copie. La memoria dei risultati e' allocata in C e adottata dagli array NumPy con PyCapsule: niente leak. Il build richiede MinGW perche' i file assembly sono GAS con flag GCC; una build_ext personalizzata li registra e forza mingw32. Il wheel finale e' autosufficiente grazie a delvewheel: l'utente fa pip install e basta. Con OpenMP attivo il GIL non e' un problema: il parallelismo vive nello strato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correttezza non e' 'sembra giusto': tre gambe. I file di riferimento ufficiali, confrontati automaticamente a fine esecuzione. Una reimplementazione completamente indipendente in NumPy, scritta partendo dalla specifica e non dal C, che riproduce gli stessi 2000 su 2000 risultati. E il test end-to-end del pacchetto Python, che attraversa tutta la catena fino all'assembly. In piu': niente pareggi nei dati, quindi il determinismo e' garantito.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Chiusura: il progetto dimostra la tesi del corso nel modo piu' concreto -- quasi 50x senza toccare la logica. Tre messaggi: ottimizzare solo dove il tempo si consuma davvero (e saperlo misurare), sfruttare il parallelismo naturale del problema, e dichiarare i limiti: la natura di similarita' di d~, l'asimmetria di -O3 nel benchmark, i percorsi assembly generici non esercitati dal workload. Domande?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777240"/>
            <a:ext cx="11000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PROGETTO ARCHITETTURE 2025 · A.A. 2025-26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1143000"/>
            <a:ext cx="11000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Calcolo approssimato dei K vicini</a:t>
            </a:r>
            <a:endParaRPr lang="en-US" sz="4700" dirty="0"/>
          </a:p>
        </p:txBody>
      </p:sp>
      <p:sp>
        <p:nvSpPr>
          <p:cNvPr id="4" name="Text 2"/>
          <p:cNvSpPr/>
          <p:nvPr/>
        </p:nvSpPr>
        <p:spPr>
          <a:xfrm>
            <a:off x="594360" y="2103120"/>
            <a:ext cx="8778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Quantizzazione binaria e indice a pivot, dal C all'hardware: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SSE2 / AVX2 · Assembly · OpenMP · libreria Python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50392" y="3520440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44" b="1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v⁺</a:t>
            </a:r>
            <a:endParaRPr lang="en-US" sz="1344" dirty="0"/>
          </a:p>
        </p:txBody>
      </p:sp>
      <p:sp>
        <p:nvSpPr>
          <p:cNvPr id="6" name="Shape 4"/>
          <p:cNvSpPr/>
          <p:nvPr/>
        </p:nvSpPr>
        <p:spPr>
          <a:xfrm>
            <a:off x="1417320" y="3520440"/>
            <a:ext cx="38404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1732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dirty="0">
                <a:solidFill>
                  <a:srgbClr val="A6A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60" dirty="0"/>
          </a:p>
        </p:txBody>
      </p:sp>
      <p:sp>
        <p:nvSpPr>
          <p:cNvPr id="8" name="Shape 6"/>
          <p:cNvSpPr/>
          <p:nvPr/>
        </p:nvSpPr>
        <p:spPr>
          <a:xfrm>
            <a:off x="1856232" y="3520440"/>
            <a:ext cx="384048" cy="384048"/>
          </a:xfrm>
          <a:prstGeom prst="roundRect">
            <a:avLst>
              <a:gd name="adj" fmla="val 7143"/>
            </a:avLst>
          </a:prstGeom>
          <a:solidFill>
            <a:srgbClr val="E2F1EB"/>
          </a:solidFill>
          <a:ln w="19050">
            <a:solidFill>
              <a:srgbClr val="0B7A6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5623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60" dirty="0"/>
          </a:p>
        </p:txBody>
      </p:sp>
      <p:sp>
        <p:nvSpPr>
          <p:cNvPr id="10" name="Shape 8"/>
          <p:cNvSpPr/>
          <p:nvPr/>
        </p:nvSpPr>
        <p:spPr>
          <a:xfrm>
            <a:off x="2295144" y="3520440"/>
            <a:ext cx="38404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95144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dirty="0">
                <a:solidFill>
                  <a:srgbClr val="A6A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60" dirty="0"/>
          </a:p>
        </p:txBody>
      </p:sp>
      <p:sp>
        <p:nvSpPr>
          <p:cNvPr id="12" name="Shape 10"/>
          <p:cNvSpPr/>
          <p:nvPr/>
        </p:nvSpPr>
        <p:spPr>
          <a:xfrm>
            <a:off x="2734056" y="3520440"/>
            <a:ext cx="38404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34056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dirty="0">
                <a:solidFill>
                  <a:srgbClr val="A6A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60" dirty="0"/>
          </a:p>
        </p:txBody>
      </p:sp>
      <p:sp>
        <p:nvSpPr>
          <p:cNvPr id="14" name="Shape 12"/>
          <p:cNvSpPr/>
          <p:nvPr/>
        </p:nvSpPr>
        <p:spPr>
          <a:xfrm>
            <a:off x="3172968" y="3520440"/>
            <a:ext cx="384048" cy="384048"/>
          </a:xfrm>
          <a:prstGeom prst="roundRect">
            <a:avLst>
              <a:gd name="adj" fmla="val 7143"/>
            </a:avLst>
          </a:prstGeom>
          <a:solidFill>
            <a:srgbClr val="E2F1EB"/>
          </a:solidFill>
          <a:ln w="19050">
            <a:solidFill>
              <a:srgbClr val="0B7A6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72968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60" dirty="0"/>
          </a:p>
        </p:txBody>
      </p:sp>
      <p:sp>
        <p:nvSpPr>
          <p:cNvPr id="16" name="Shape 14"/>
          <p:cNvSpPr/>
          <p:nvPr/>
        </p:nvSpPr>
        <p:spPr>
          <a:xfrm>
            <a:off x="3611880" y="3520440"/>
            <a:ext cx="38404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1188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dirty="0">
                <a:solidFill>
                  <a:srgbClr val="A6A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60" dirty="0"/>
          </a:p>
        </p:txBody>
      </p:sp>
      <p:sp>
        <p:nvSpPr>
          <p:cNvPr id="18" name="Shape 16"/>
          <p:cNvSpPr/>
          <p:nvPr/>
        </p:nvSpPr>
        <p:spPr>
          <a:xfrm>
            <a:off x="4050792" y="3520440"/>
            <a:ext cx="384048" cy="384048"/>
          </a:xfrm>
          <a:prstGeom prst="roundRect">
            <a:avLst>
              <a:gd name="adj" fmla="val 7143"/>
            </a:avLst>
          </a:prstGeom>
          <a:solidFill>
            <a:srgbClr val="E2F1EB"/>
          </a:solidFill>
          <a:ln w="19050">
            <a:solidFill>
              <a:srgbClr val="0B7A6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5079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60" dirty="0"/>
          </a:p>
        </p:txBody>
      </p:sp>
      <p:sp>
        <p:nvSpPr>
          <p:cNvPr id="20" name="Shape 18"/>
          <p:cNvSpPr/>
          <p:nvPr/>
        </p:nvSpPr>
        <p:spPr>
          <a:xfrm>
            <a:off x="4489704" y="3520440"/>
            <a:ext cx="38404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9704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dirty="0">
                <a:solidFill>
                  <a:srgbClr val="A6A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60" dirty="0"/>
          </a:p>
        </p:txBody>
      </p:sp>
      <p:sp>
        <p:nvSpPr>
          <p:cNvPr id="22" name="Shape 20"/>
          <p:cNvSpPr/>
          <p:nvPr/>
        </p:nvSpPr>
        <p:spPr>
          <a:xfrm>
            <a:off x="4928616" y="3520440"/>
            <a:ext cx="38404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28616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dirty="0">
                <a:solidFill>
                  <a:srgbClr val="A6A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60" dirty="0"/>
          </a:p>
        </p:txBody>
      </p:sp>
      <p:sp>
        <p:nvSpPr>
          <p:cNvPr id="24" name="Shape 22"/>
          <p:cNvSpPr/>
          <p:nvPr/>
        </p:nvSpPr>
        <p:spPr>
          <a:xfrm>
            <a:off x="5367528" y="3520440"/>
            <a:ext cx="38404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67528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dirty="0">
                <a:solidFill>
                  <a:srgbClr val="A6A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60" dirty="0"/>
          </a:p>
        </p:txBody>
      </p:sp>
      <p:sp>
        <p:nvSpPr>
          <p:cNvPr id="26" name="Shape 24"/>
          <p:cNvSpPr/>
          <p:nvPr/>
        </p:nvSpPr>
        <p:spPr>
          <a:xfrm>
            <a:off x="5806440" y="3520440"/>
            <a:ext cx="38404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0644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dirty="0">
                <a:solidFill>
                  <a:srgbClr val="A6A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60" dirty="0"/>
          </a:p>
        </p:txBody>
      </p:sp>
      <p:sp>
        <p:nvSpPr>
          <p:cNvPr id="28" name="Shape 26"/>
          <p:cNvSpPr/>
          <p:nvPr/>
        </p:nvSpPr>
        <p:spPr>
          <a:xfrm>
            <a:off x="6245352" y="3520440"/>
            <a:ext cx="384048" cy="384048"/>
          </a:xfrm>
          <a:prstGeom prst="roundRect">
            <a:avLst>
              <a:gd name="adj" fmla="val 7143"/>
            </a:avLst>
          </a:prstGeom>
          <a:solidFill>
            <a:srgbClr val="E2F1EB"/>
          </a:solidFill>
          <a:ln w="19050">
            <a:solidFill>
              <a:srgbClr val="0B7A6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4535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60" dirty="0"/>
          </a:p>
        </p:txBody>
      </p:sp>
      <p:sp>
        <p:nvSpPr>
          <p:cNvPr id="30" name="Shape 28"/>
          <p:cNvSpPr/>
          <p:nvPr/>
        </p:nvSpPr>
        <p:spPr>
          <a:xfrm>
            <a:off x="6684264" y="3520440"/>
            <a:ext cx="38404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84264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dirty="0">
                <a:solidFill>
                  <a:srgbClr val="A6A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60" dirty="0"/>
          </a:p>
        </p:txBody>
      </p:sp>
      <p:sp>
        <p:nvSpPr>
          <p:cNvPr id="32" name="Shape 30"/>
          <p:cNvSpPr/>
          <p:nvPr/>
        </p:nvSpPr>
        <p:spPr>
          <a:xfrm>
            <a:off x="7123176" y="3520440"/>
            <a:ext cx="38404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3176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dirty="0">
                <a:solidFill>
                  <a:srgbClr val="A6A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60" dirty="0"/>
          </a:p>
        </p:txBody>
      </p:sp>
      <p:sp>
        <p:nvSpPr>
          <p:cNvPr id="34" name="Shape 32"/>
          <p:cNvSpPr/>
          <p:nvPr/>
        </p:nvSpPr>
        <p:spPr>
          <a:xfrm>
            <a:off x="7562088" y="3520440"/>
            <a:ext cx="384048" cy="384048"/>
          </a:xfrm>
          <a:prstGeom prst="roundRect">
            <a:avLst>
              <a:gd name="adj" fmla="val 7143"/>
            </a:avLst>
          </a:prstGeom>
          <a:solidFill>
            <a:srgbClr val="E2F1EB"/>
          </a:solidFill>
          <a:ln w="19050">
            <a:solidFill>
              <a:srgbClr val="0B7A6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62088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60" dirty="0"/>
          </a:p>
        </p:txBody>
      </p:sp>
      <p:sp>
        <p:nvSpPr>
          <p:cNvPr id="36" name="Shape 34"/>
          <p:cNvSpPr/>
          <p:nvPr/>
        </p:nvSpPr>
        <p:spPr>
          <a:xfrm>
            <a:off x="8001000" y="3520440"/>
            <a:ext cx="38404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00100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dirty="0">
                <a:solidFill>
                  <a:srgbClr val="A6A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60" dirty="0"/>
          </a:p>
        </p:txBody>
      </p:sp>
      <p:sp>
        <p:nvSpPr>
          <p:cNvPr id="38" name="Text 36"/>
          <p:cNvSpPr/>
          <p:nvPr/>
        </p:nvSpPr>
        <p:spPr>
          <a:xfrm>
            <a:off x="850392" y="4041648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44" b="1" dirty="0">
                <a:solidFill>
                  <a:srgbClr val="B2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v⁻</a:t>
            </a:r>
            <a:endParaRPr lang="en-US" sz="1344" dirty="0"/>
          </a:p>
        </p:txBody>
      </p:sp>
      <p:sp>
        <p:nvSpPr>
          <p:cNvPr id="39" name="Shape 37"/>
          <p:cNvSpPr/>
          <p:nvPr/>
        </p:nvSpPr>
        <p:spPr>
          <a:xfrm>
            <a:off x="1417320" y="4041648"/>
            <a:ext cx="38404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4173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dirty="0">
                <a:solidFill>
                  <a:srgbClr val="A6A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60" dirty="0"/>
          </a:p>
        </p:txBody>
      </p:sp>
      <p:sp>
        <p:nvSpPr>
          <p:cNvPr id="41" name="Shape 39"/>
          <p:cNvSpPr/>
          <p:nvPr/>
        </p:nvSpPr>
        <p:spPr>
          <a:xfrm>
            <a:off x="1856232" y="4041648"/>
            <a:ext cx="38404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856232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dirty="0">
                <a:solidFill>
                  <a:srgbClr val="A6A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60" dirty="0"/>
          </a:p>
        </p:txBody>
      </p:sp>
      <p:sp>
        <p:nvSpPr>
          <p:cNvPr id="43" name="Shape 41"/>
          <p:cNvSpPr/>
          <p:nvPr/>
        </p:nvSpPr>
        <p:spPr>
          <a:xfrm>
            <a:off x="2295144" y="4041648"/>
            <a:ext cx="384048" cy="384048"/>
          </a:xfrm>
          <a:prstGeom prst="roundRect">
            <a:avLst>
              <a:gd name="adj" fmla="val 7143"/>
            </a:avLst>
          </a:prstGeom>
          <a:solidFill>
            <a:srgbClr val="F8E8E5"/>
          </a:solidFill>
          <a:ln w="19050">
            <a:solidFill>
              <a:srgbClr val="B23A2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295144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B2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60" dirty="0"/>
          </a:p>
        </p:txBody>
      </p:sp>
      <p:sp>
        <p:nvSpPr>
          <p:cNvPr id="45" name="Shape 43"/>
          <p:cNvSpPr/>
          <p:nvPr/>
        </p:nvSpPr>
        <p:spPr>
          <a:xfrm>
            <a:off x="2734056" y="4041648"/>
            <a:ext cx="38404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734056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dirty="0">
                <a:solidFill>
                  <a:srgbClr val="A6A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60" dirty="0"/>
          </a:p>
        </p:txBody>
      </p:sp>
      <p:sp>
        <p:nvSpPr>
          <p:cNvPr id="47" name="Shape 45"/>
          <p:cNvSpPr/>
          <p:nvPr/>
        </p:nvSpPr>
        <p:spPr>
          <a:xfrm>
            <a:off x="3172968" y="4041648"/>
            <a:ext cx="38404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72968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dirty="0">
                <a:solidFill>
                  <a:srgbClr val="A6A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60" dirty="0"/>
          </a:p>
        </p:txBody>
      </p:sp>
      <p:sp>
        <p:nvSpPr>
          <p:cNvPr id="49" name="Shape 47"/>
          <p:cNvSpPr/>
          <p:nvPr/>
        </p:nvSpPr>
        <p:spPr>
          <a:xfrm>
            <a:off x="3611880" y="4041648"/>
            <a:ext cx="38404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1188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dirty="0">
                <a:solidFill>
                  <a:srgbClr val="A6A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60" dirty="0"/>
          </a:p>
        </p:txBody>
      </p:sp>
      <p:sp>
        <p:nvSpPr>
          <p:cNvPr id="51" name="Shape 49"/>
          <p:cNvSpPr/>
          <p:nvPr/>
        </p:nvSpPr>
        <p:spPr>
          <a:xfrm>
            <a:off x="4050792" y="4041648"/>
            <a:ext cx="38404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50792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dirty="0">
                <a:solidFill>
                  <a:srgbClr val="A6A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60" dirty="0"/>
          </a:p>
        </p:txBody>
      </p:sp>
      <p:sp>
        <p:nvSpPr>
          <p:cNvPr id="53" name="Shape 51"/>
          <p:cNvSpPr/>
          <p:nvPr/>
        </p:nvSpPr>
        <p:spPr>
          <a:xfrm>
            <a:off x="4489704" y="4041648"/>
            <a:ext cx="384048" cy="384048"/>
          </a:xfrm>
          <a:prstGeom prst="roundRect">
            <a:avLst>
              <a:gd name="adj" fmla="val 7143"/>
            </a:avLst>
          </a:prstGeom>
          <a:solidFill>
            <a:srgbClr val="F8E8E5"/>
          </a:solidFill>
          <a:ln w="19050">
            <a:solidFill>
              <a:srgbClr val="B23A2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489704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B2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60" dirty="0"/>
          </a:p>
        </p:txBody>
      </p:sp>
      <p:sp>
        <p:nvSpPr>
          <p:cNvPr id="55" name="Shape 53"/>
          <p:cNvSpPr/>
          <p:nvPr/>
        </p:nvSpPr>
        <p:spPr>
          <a:xfrm>
            <a:off x="4928616" y="4041648"/>
            <a:ext cx="38404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8616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dirty="0">
                <a:solidFill>
                  <a:srgbClr val="A6A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60" dirty="0"/>
          </a:p>
        </p:txBody>
      </p:sp>
      <p:sp>
        <p:nvSpPr>
          <p:cNvPr id="57" name="Shape 55"/>
          <p:cNvSpPr/>
          <p:nvPr/>
        </p:nvSpPr>
        <p:spPr>
          <a:xfrm>
            <a:off x="5367528" y="4041648"/>
            <a:ext cx="384048" cy="384048"/>
          </a:xfrm>
          <a:prstGeom prst="roundRect">
            <a:avLst>
              <a:gd name="adj" fmla="val 7143"/>
            </a:avLst>
          </a:prstGeom>
          <a:solidFill>
            <a:srgbClr val="F8E8E5"/>
          </a:solidFill>
          <a:ln w="19050">
            <a:solidFill>
              <a:srgbClr val="B23A2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367528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B2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60" dirty="0"/>
          </a:p>
        </p:txBody>
      </p:sp>
      <p:sp>
        <p:nvSpPr>
          <p:cNvPr id="59" name="Shape 57"/>
          <p:cNvSpPr/>
          <p:nvPr/>
        </p:nvSpPr>
        <p:spPr>
          <a:xfrm>
            <a:off x="5806440" y="4041648"/>
            <a:ext cx="38404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80644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dirty="0">
                <a:solidFill>
                  <a:srgbClr val="A6A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60" dirty="0"/>
          </a:p>
        </p:txBody>
      </p:sp>
      <p:sp>
        <p:nvSpPr>
          <p:cNvPr id="61" name="Shape 59"/>
          <p:cNvSpPr/>
          <p:nvPr/>
        </p:nvSpPr>
        <p:spPr>
          <a:xfrm>
            <a:off x="6245352" y="4041648"/>
            <a:ext cx="38404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45352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dirty="0">
                <a:solidFill>
                  <a:srgbClr val="A6A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60" dirty="0"/>
          </a:p>
        </p:txBody>
      </p:sp>
      <p:sp>
        <p:nvSpPr>
          <p:cNvPr id="63" name="Shape 61"/>
          <p:cNvSpPr/>
          <p:nvPr/>
        </p:nvSpPr>
        <p:spPr>
          <a:xfrm>
            <a:off x="6684264" y="4041648"/>
            <a:ext cx="38404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684264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dirty="0">
                <a:solidFill>
                  <a:srgbClr val="A6A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60" dirty="0"/>
          </a:p>
        </p:txBody>
      </p:sp>
      <p:sp>
        <p:nvSpPr>
          <p:cNvPr id="65" name="Shape 63"/>
          <p:cNvSpPr/>
          <p:nvPr/>
        </p:nvSpPr>
        <p:spPr>
          <a:xfrm>
            <a:off x="7123176" y="4041648"/>
            <a:ext cx="384048" cy="384048"/>
          </a:xfrm>
          <a:prstGeom prst="roundRect">
            <a:avLst>
              <a:gd name="adj" fmla="val 7143"/>
            </a:avLst>
          </a:prstGeom>
          <a:solidFill>
            <a:srgbClr val="F8E8E5"/>
          </a:solidFill>
          <a:ln w="19050">
            <a:solidFill>
              <a:srgbClr val="B23A2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123176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B2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60" dirty="0"/>
          </a:p>
        </p:txBody>
      </p:sp>
      <p:sp>
        <p:nvSpPr>
          <p:cNvPr id="67" name="Shape 65"/>
          <p:cNvSpPr/>
          <p:nvPr/>
        </p:nvSpPr>
        <p:spPr>
          <a:xfrm>
            <a:off x="7562088" y="4041648"/>
            <a:ext cx="38404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562088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dirty="0">
                <a:solidFill>
                  <a:srgbClr val="A6A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60" dirty="0"/>
          </a:p>
        </p:txBody>
      </p:sp>
      <p:sp>
        <p:nvSpPr>
          <p:cNvPr id="69" name="Shape 67"/>
          <p:cNvSpPr/>
          <p:nvPr/>
        </p:nvSpPr>
        <p:spPr>
          <a:xfrm>
            <a:off x="8001000" y="4041648"/>
            <a:ext cx="38404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00100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dirty="0">
                <a:solidFill>
                  <a:srgbClr val="A6A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60" dirty="0"/>
          </a:p>
        </p:txBody>
      </p:sp>
      <p:sp>
        <p:nvSpPr>
          <p:cNvPr id="71" name="Text 69"/>
          <p:cNvSpPr/>
          <p:nvPr/>
        </p:nvSpPr>
        <p:spPr>
          <a:xfrm>
            <a:off x="1417320" y="4663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d~(v, w) = (v⁺·w⁺) + (v⁻·w⁻) − (v⁺·w⁻) − (v⁻·w⁺)</a:t>
            </a:r>
            <a:endParaRPr lang="en-US" sz="1500" dirty="0"/>
          </a:p>
        </p:txBody>
      </p:sp>
      <p:sp>
        <p:nvSpPr>
          <p:cNvPr id="72" name="Text 70"/>
          <p:cNvSpPr/>
          <p:nvPr/>
        </p:nvSpPr>
        <p:spPr>
          <a:xfrm>
            <a:off x="594360" y="5897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Costanza Ferrari  ·  Michele De Fusco  ·  Luca Cuconato</a:t>
            </a:r>
            <a:endParaRPr lang="en-US" sz="1500" dirty="0"/>
          </a:p>
        </p:txBody>
      </p:sp>
      <p:sp>
        <p:nvSpPr>
          <p:cNvPr id="73" name="Text 71"/>
          <p:cNvSpPr/>
          <p:nvPr/>
        </p:nvSpPr>
        <p:spPr>
          <a:xfrm>
            <a:off x="594360" y="62636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Architetture avanzate per i sistemi di elaborazione e programmazione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1 · IL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30352"/>
            <a:ext cx="11000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K-NN esatto non scala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600200"/>
            <a:ext cx="5577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 un dataset DS di n punti in ℝ</a:t>
            </a:r>
            <a:pPr indent="0" marL="0">
              <a:buNone/>
            </a:pPr>
            <a:r>
              <a:rPr lang="en-US" sz="1600" baseline="300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pPr indent="0" marL="0">
              <a:buNone/>
            </a:pPr>
            <a:r>
              <a:rPr lang="en-US" sz="16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una query q, servono i k punti più vicini in distanza euclidea.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L'approccio esatto confronta la query con tutti i punti: costo O(n·D) per query. Con le nostre dimensioni il conto è presto fatto →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675120" y="1508760"/>
            <a:ext cx="489204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949440" y="1636776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4.000.000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6949440" y="22219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6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distanze euclidee (2000 punti × 2000 query)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675120" y="2862072"/>
            <a:ext cx="489204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949440" y="299008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3 miliardi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6949440" y="357530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6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operazioni floating-point (D = 256)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94360" y="43159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96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traccia attacca i due fattori del costo: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" y="4709160"/>
            <a:ext cx="5394960" cy="1463040"/>
          </a:xfrm>
          <a:prstGeom prst="roundRect">
            <a:avLst>
              <a:gd name="adj" fmla="val 4375"/>
            </a:avLst>
          </a:prstGeom>
          <a:solidFill>
            <a:srgbClr val="E2F1EB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4892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Ridurre D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68680" y="528523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distanza approssimata su vettori di bit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posto dell'euclidea su 256 float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217920" y="4709160"/>
            <a:ext cx="5349240" cy="1463040"/>
          </a:xfrm>
          <a:prstGeom prst="roundRect">
            <a:avLst>
              <a:gd name="adj" fmla="val 4375"/>
            </a:avLst>
          </a:prstGeom>
          <a:solidFill>
            <a:srgbClr val="E2F1EB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92240" y="4892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Ridurre 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92240" y="5285232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a pivot: scarta in anticipo i punti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non possono entrare nei k vicini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2 · PRIMA LEVA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30352"/>
            <a:ext cx="11000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Quantizzazione: da 256 float a due impronte di bit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48132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Delle </a:t>
            </a:r>
            <a:pPr indent="0" marL="0">
              <a:buNone/>
            </a:pPr>
            <a:r>
              <a:rPr lang="en-US" sz="16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componenti con |valore| massimo</a:t>
            </a:r>
            <a:pPr indent="0" marL="0">
              <a:buNone/>
            </a:pPr>
            <a:r>
              <a:rPr lang="en-US" sz="16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 conservano solo posizione e segno: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33272" y="2148840"/>
            <a:ext cx="530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64" b="1" dirty="0">
                <a:solidFill>
                  <a:srgbClr val="171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endParaRPr lang="en-US" sz="1664" dirty="0"/>
          </a:p>
        </p:txBody>
      </p:sp>
      <p:sp>
        <p:nvSpPr>
          <p:cNvPr id="6" name="Shape 4"/>
          <p:cNvSpPr/>
          <p:nvPr/>
        </p:nvSpPr>
        <p:spPr>
          <a:xfrm>
            <a:off x="1600200" y="2148840"/>
            <a:ext cx="903427" cy="47548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00200" y="2148840"/>
            <a:ext cx="903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2" dirty="0">
                <a:solidFill>
                  <a:srgbClr val="A6A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2.3</a:t>
            </a:r>
            <a:endParaRPr lang="en-US" sz="1352" dirty="0"/>
          </a:p>
        </p:txBody>
      </p:sp>
      <p:sp>
        <p:nvSpPr>
          <p:cNvPr id="8" name="Shape 6"/>
          <p:cNvSpPr/>
          <p:nvPr/>
        </p:nvSpPr>
        <p:spPr>
          <a:xfrm>
            <a:off x="2558491" y="2148840"/>
            <a:ext cx="903427" cy="47548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58491" y="2148840"/>
            <a:ext cx="903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2" dirty="0">
                <a:solidFill>
                  <a:srgbClr val="A6A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1.5</a:t>
            </a:r>
            <a:endParaRPr lang="en-US" sz="1352" dirty="0"/>
          </a:p>
        </p:txBody>
      </p:sp>
      <p:sp>
        <p:nvSpPr>
          <p:cNvPr id="10" name="Shape 8"/>
          <p:cNvSpPr/>
          <p:nvPr/>
        </p:nvSpPr>
        <p:spPr>
          <a:xfrm>
            <a:off x="3516782" y="2148840"/>
            <a:ext cx="903427" cy="475488"/>
          </a:xfrm>
          <a:prstGeom prst="roundRect">
            <a:avLst>
              <a:gd name="adj" fmla="val 5769"/>
            </a:avLst>
          </a:prstGeom>
          <a:solidFill>
            <a:srgbClr val="F8E8E5"/>
          </a:solidFill>
          <a:ln w="19050">
            <a:solidFill>
              <a:srgbClr val="B23A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16782" y="2148840"/>
            <a:ext cx="903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2" b="1" dirty="0">
                <a:solidFill>
                  <a:srgbClr val="B2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−6.7</a:t>
            </a:r>
            <a:endParaRPr lang="en-US" sz="1352" dirty="0"/>
          </a:p>
        </p:txBody>
      </p:sp>
      <p:sp>
        <p:nvSpPr>
          <p:cNvPr id="12" name="Shape 10"/>
          <p:cNvSpPr/>
          <p:nvPr/>
        </p:nvSpPr>
        <p:spPr>
          <a:xfrm>
            <a:off x="4475074" y="2148840"/>
            <a:ext cx="903427" cy="475488"/>
          </a:xfrm>
          <a:prstGeom prst="roundRect">
            <a:avLst>
              <a:gd name="adj" fmla="val 5769"/>
            </a:avLst>
          </a:prstGeom>
          <a:solidFill>
            <a:srgbClr val="E2F1EB"/>
          </a:solidFill>
          <a:ln w="19050">
            <a:solidFill>
              <a:srgbClr val="0B7A6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75074" y="2148840"/>
            <a:ext cx="903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2" b="1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4.5</a:t>
            </a:r>
            <a:endParaRPr lang="en-US" sz="1352" dirty="0"/>
          </a:p>
        </p:txBody>
      </p:sp>
      <p:sp>
        <p:nvSpPr>
          <p:cNvPr id="14" name="Text 12"/>
          <p:cNvSpPr/>
          <p:nvPr/>
        </p:nvSpPr>
        <p:spPr>
          <a:xfrm>
            <a:off x="1033272" y="2880360"/>
            <a:ext cx="530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64" b="1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v⁺</a:t>
            </a:r>
            <a:endParaRPr lang="en-US" sz="1664" dirty="0"/>
          </a:p>
        </p:txBody>
      </p:sp>
      <p:sp>
        <p:nvSpPr>
          <p:cNvPr id="15" name="Shape 13"/>
          <p:cNvSpPr/>
          <p:nvPr/>
        </p:nvSpPr>
        <p:spPr>
          <a:xfrm>
            <a:off x="1600200" y="2880360"/>
            <a:ext cx="903427" cy="47548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00200" y="2880360"/>
            <a:ext cx="903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2" dirty="0">
                <a:solidFill>
                  <a:srgbClr val="A6A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52" dirty="0"/>
          </a:p>
        </p:txBody>
      </p:sp>
      <p:sp>
        <p:nvSpPr>
          <p:cNvPr id="17" name="Shape 15"/>
          <p:cNvSpPr/>
          <p:nvPr/>
        </p:nvSpPr>
        <p:spPr>
          <a:xfrm>
            <a:off x="2558491" y="2880360"/>
            <a:ext cx="903427" cy="47548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58491" y="2880360"/>
            <a:ext cx="903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2" dirty="0">
                <a:solidFill>
                  <a:srgbClr val="A6A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52" dirty="0"/>
          </a:p>
        </p:txBody>
      </p:sp>
      <p:sp>
        <p:nvSpPr>
          <p:cNvPr id="19" name="Shape 17"/>
          <p:cNvSpPr/>
          <p:nvPr/>
        </p:nvSpPr>
        <p:spPr>
          <a:xfrm>
            <a:off x="3516782" y="2880360"/>
            <a:ext cx="903427" cy="47548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16782" y="2880360"/>
            <a:ext cx="903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2" dirty="0">
                <a:solidFill>
                  <a:srgbClr val="A6A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52" dirty="0"/>
          </a:p>
        </p:txBody>
      </p:sp>
      <p:sp>
        <p:nvSpPr>
          <p:cNvPr id="21" name="Shape 19"/>
          <p:cNvSpPr/>
          <p:nvPr/>
        </p:nvSpPr>
        <p:spPr>
          <a:xfrm>
            <a:off x="4475074" y="2880360"/>
            <a:ext cx="903427" cy="475488"/>
          </a:xfrm>
          <a:prstGeom prst="roundRect">
            <a:avLst>
              <a:gd name="adj" fmla="val 5769"/>
            </a:avLst>
          </a:prstGeom>
          <a:solidFill>
            <a:srgbClr val="E2F1EB"/>
          </a:solidFill>
          <a:ln w="19050">
            <a:solidFill>
              <a:srgbClr val="0B7A6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75074" y="2880360"/>
            <a:ext cx="903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2" b="1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52" dirty="0"/>
          </a:p>
        </p:txBody>
      </p:sp>
      <p:sp>
        <p:nvSpPr>
          <p:cNvPr id="23" name="Text 21"/>
          <p:cNvSpPr/>
          <p:nvPr/>
        </p:nvSpPr>
        <p:spPr>
          <a:xfrm>
            <a:off x="1033272" y="3611880"/>
            <a:ext cx="530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64" b="1" dirty="0">
                <a:solidFill>
                  <a:srgbClr val="B2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v⁻</a:t>
            </a:r>
            <a:endParaRPr lang="en-US" sz="1664" dirty="0"/>
          </a:p>
        </p:txBody>
      </p:sp>
      <p:sp>
        <p:nvSpPr>
          <p:cNvPr id="24" name="Shape 22"/>
          <p:cNvSpPr/>
          <p:nvPr/>
        </p:nvSpPr>
        <p:spPr>
          <a:xfrm>
            <a:off x="1600200" y="3611880"/>
            <a:ext cx="903427" cy="47548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600200" y="3611880"/>
            <a:ext cx="903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2" dirty="0">
                <a:solidFill>
                  <a:srgbClr val="A6A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52" dirty="0"/>
          </a:p>
        </p:txBody>
      </p:sp>
      <p:sp>
        <p:nvSpPr>
          <p:cNvPr id="26" name="Shape 24"/>
          <p:cNvSpPr/>
          <p:nvPr/>
        </p:nvSpPr>
        <p:spPr>
          <a:xfrm>
            <a:off x="2558491" y="3611880"/>
            <a:ext cx="903427" cy="47548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8491" y="3611880"/>
            <a:ext cx="903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2" dirty="0">
                <a:solidFill>
                  <a:srgbClr val="A6A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52" dirty="0"/>
          </a:p>
        </p:txBody>
      </p:sp>
      <p:sp>
        <p:nvSpPr>
          <p:cNvPr id="28" name="Shape 26"/>
          <p:cNvSpPr/>
          <p:nvPr/>
        </p:nvSpPr>
        <p:spPr>
          <a:xfrm>
            <a:off x="3516782" y="3611880"/>
            <a:ext cx="903427" cy="475488"/>
          </a:xfrm>
          <a:prstGeom prst="roundRect">
            <a:avLst>
              <a:gd name="adj" fmla="val 5769"/>
            </a:avLst>
          </a:prstGeom>
          <a:solidFill>
            <a:srgbClr val="F8E8E5"/>
          </a:solidFill>
          <a:ln w="19050">
            <a:solidFill>
              <a:srgbClr val="B23A2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16782" y="3611880"/>
            <a:ext cx="903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2" b="1" dirty="0">
                <a:solidFill>
                  <a:srgbClr val="B2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52" dirty="0"/>
          </a:p>
        </p:txBody>
      </p:sp>
      <p:sp>
        <p:nvSpPr>
          <p:cNvPr id="30" name="Shape 28"/>
          <p:cNvSpPr/>
          <p:nvPr/>
        </p:nvSpPr>
        <p:spPr>
          <a:xfrm>
            <a:off x="4475074" y="3611880"/>
            <a:ext cx="903427" cy="47548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75074" y="3611880"/>
            <a:ext cx="903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2" dirty="0">
                <a:solidFill>
                  <a:srgbClr val="A6AD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52" dirty="0"/>
          </a:p>
        </p:txBody>
      </p:sp>
      <p:sp>
        <p:nvSpPr>
          <p:cNvPr id="32" name="Text 30"/>
          <p:cNvSpPr/>
          <p:nvPr/>
        </p:nvSpPr>
        <p:spPr>
          <a:xfrm>
            <a:off x="1033272" y="4224528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96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 della traccia: D = 4, x = 2  →  dominanti −6.7 (negativa) e 4.5 (positiva)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7406640" y="2011680"/>
            <a:ext cx="416052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7680960" y="2194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Implementazione (C)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635240" y="2606040"/>
            <a:ext cx="3794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coppie (|v[i]|, i) ordinate con qsort decrescente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delle prime x posizioni accesi per segno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O(D log D) per vettore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byte per dimensione (uint8 0/1): abilita il trucco SIMD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594360" y="5074920"/>
            <a:ext cx="11000232" cy="1097280"/>
          </a:xfrm>
          <a:prstGeom prst="roundRect">
            <a:avLst>
              <a:gd name="adj" fmla="val 5833"/>
            </a:avLst>
          </a:prstGeom>
          <a:solidFill>
            <a:srgbClr val="EEF1F5"/>
          </a:solidFill>
          <a:ln w="9525">
            <a:solidFill>
              <a:srgbClr val="DCE0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8680" y="523036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Determinismo verificato: </a:t>
            </a:r>
            <a:pPr indent="0" marL="0">
              <a:buNone/>
            </a:pPr>
            <a:r>
              <a:rPr lang="en-US" sz="14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 dataset del progetto non esistono pareggi di |valore| al confine di selezione né zeri → la quantizzazione è riproducibile bit a bit, e il confronto coi riferimenti è esatto, non fortuito.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3 · LA MISURA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30352"/>
            <a:ext cx="11000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d̃ = accordi − disaccordi tra impronte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481328"/>
            <a:ext cx="11000232" cy="777240"/>
          </a:xfrm>
          <a:prstGeom prst="roundRect">
            <a:avLst>
              <a:gd name="adj" fmla="val 8235"/>
            </a:avLst>
          </a:prstGeom>
          <a:solidFill>
            <a:srgbClr val="EEF1F5"/>
          </a:solidFill>
          <a:ln w="9525">
            <a:solidFill>
              <a:srgbClr val="DC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481328"/>
            <a:ext cx="11000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1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d~(v, w)  =  (v⁺·w⁺) + (v⁻·w⁻) − (v⁺·w⁻) − (v⁻·w⁺)          intero ∈ [−x, +x]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94360" y="2514600"/>
            <a:ext cx="2633472" cy="1481328"/>
          </a:xfrm>
          <a:prstGeom prst="roundRect">
            <a:avLst>
              <a:gd name="adj" fmla="val 4321"/>
            </a:avLst>
          </a:prstGeom>
          <a:solidFill>
            <a:srgbClr val="E2F1EB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670048"/>
            <a:ext cx="21762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pp</a:t>
            </a:r>
            <a:pPr indent="0" marL="0">
              <a:buNone/>
            </a:pPr>
            <a:r>
              <a:rPr lang="en-US" sz="2100" b="1" dirty="0">
                <a:solidFill>
                  <a:srgbClr val="0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+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22960" y="3127248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dominanti positive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nelle stesse posizioni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83280" y="2514600"/>
            <a:ext cx="2633472" cy="1481328"/>
          </a:xfrm>
          <a:prstGeom prst="roundRect">
            <a:avLst>
              <a:gd name="adj" fmla="val 4321"/>
            </a:avLst>
          </a:prstGeom>
          <a:solidFill>
            <a:srgbClr val="E2F1EB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11880" y="2670048"/>
            <a:ext cx="21762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pPr indent="0" marL="0">
              <a:buNone/>
            </a:pPr>
            <a:r>
              <a:rPr lang="en-US" sz="2100" b="1" dirty="0">
                <a:solidFill>
                  <a:srgbClr val="0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+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3611880" y="3127248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dominanti negative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nelle stesse posizioni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2514600"/>
            <a:ext cx="2633472" cy="1481328"/>
          </a:xfrm>
          <a:prstGeom prst="roundRect">
            <a:avLst>
              <a:gd name="adj" fmla="val 4321"/>
            </a:avLst>
          </a:prstGeom>
          <a:solidFill>
            <a:srgbClr val="F8E8E5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0" y="2670048"/>
            <a:ext cx="21762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2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</a:t>
            </a:r>
            <a:pPr indent="0" marL="0">
              <a:buNone/>
            </a:pPr>
            <a:r>
              <a:rPr lang="en-US" sz="2100" b="1" dirty="0">
                <a:solidFill>
                  <a:srgbClr val="B23A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−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400800" y="3127248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positivo dove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è negativo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61120" y="2514600"/>
            <a:ext cx="2633472" cy="1481328"/>
          </a:xfrm>
          <a:prstGeom prst="roundRect">
            <a:avLst>
              <a:gd name="adj" fmla="val 4321"/>
            </a:avLst>
          </a:prstGeom>
          <a:solidFill>
            <a:srgbClr val="F8E8E5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189720" y="2670048"/>
            <a:ext cx="21762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2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</a:t>
            </a:r>
            <a:pPr indent="0" marL="0">
              <a:buNone/>
            </a:pPr>
            <a:r>
              <a:rPr lang="en-US" sz="2100" b="1" dirty="0">
                <a:solidFill>
                  <a:srgbClr val="B23A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−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9189720" y="3127248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negativo dove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è positivo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94360" y="4224528"/>
            <a:ext cx="11000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</a:t>
            </a:r>
            <a:pPr indent="0" marL="0">
              <a:buNone/>
            </a:pPr>
            <a:r>
              <a:rPr lang="en-US" sz="145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[2.3, 1.5, −6.7, 4.5]   w = [−3.2, 0.5, 7.1, −2.0]   →   np = 1, gli altri 0   →   </a:t>
            </a:r>
            <a:pPr indent="0" marL="0">
              <a:buNone/>
            </a:pPr>
            <a:r>
              <a:rPr lang="en-US" sz="1450" b="1" dirty="0">
                <a:solidFill>
                  <a:srgbClr val="B2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d~ = −1</a:t>
            </a:r>
            <a:pPr indent="0" marL="0">
              <a:buNone/>
            </a:pPr>
            <a:r>
              <a:rPr lang="en-US" sz="1450" i="1" dirty="0">
                <a:solidFill>
                  <a:srgbClr val="596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(impronte anticorrelate in posizione 2)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94360" y="4846320"/>
            <a:ext cx="11000232" cy="1371600"/>
          </a:xfrm>
          <a:prstGeom prst="roundRect">
            <a:avLst>
              <a:gd name="adj" fmla="val 4667"/>
            </a:avLst>
          </a:prstGeom>
          <a:solidFill>
            <a:srgbClr val="F8E8E5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68680" y="498348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2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OSSERVAZIONE CRITICA (da discussione)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68680" y="5285232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d̃(v, v) = +x, il valore massimo: formalmente è una </a:t>
            </a:r>
            <a:pPr indent="0" marL="0">
              <a:buNone/>
            </a:pPr>
            <a:r>
              <a:rPr lang="en-US" sz="135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similarità</a:t>
            </a:r>
            <a:pPr indent="0" marL="0">
              <a:buNone/>
            </a:pPr>
            <a:r>
              <a:rPr lang="en-US" sz="135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non una metrica. La traccia la usa comunque come distanza (si tengono i k con d̃ minima): il pruning è un'euristica conforme alla specifica — i risultati coincidono al 100% coi riferimenti ufficiali, generati con la stessa logica.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4 · SECONDA LEVA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30352"/>
            <a:ext cx="11000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L'indice: 16 pivot, 32.000 distanze pre-calcolate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554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Selezione (da traccia): </a:t>
            </a:r>
            <a:pPr indent="0" marL="0">
              <a:buNone/>
            </a:pPr>
            <a:r>
              <a:rPr lang="en-US" sz="1550" b="1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pⱼ = ⌊n/h⌋ · j,  j = 0 … h−1</a:t>
            </a:r>
            <a:pPr indent="0" marL="0">
              <a:buNone/>
            </a:pPr>
            <a:r>
              <a:rPr lang="en-US" sz="155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con n = 2000, h = 16: punti 0, 125, 250, … 1875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94360" y="2286000"/>
            <a:ext cx="6537960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2532888"/>
            <a:ext cx="475488" cy="475488"/>
          </a:xfrm>
          <a:prstGeom prst="ellipse">
            <a:avLst/>
          </a:prstGeom>
          <a:solidFill>
            <a:srgbClr val="0B7A63"/>
          </a:solidFill>
          <a:ln w="12700">
            <a:solidFill>
              <a:srgbClr val="0B7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2532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241401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Quantizza tutto il dataset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463040" y="278892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6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 coppie di maschere v⁺/v⁻ da 256 byte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4360" y="3419856"/>
            <a:ext cx="6537960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95528" y="3666744"/>
            <a:ext cx="475488" cy="475488"/>
          </a:xfrm>
          <a:prstGeom prst="ellipse">
            <a:avLst/>
          </a:prstGeom>
          <a:solidFill>
            <a:srgbClr val="0B7A63"/>
          </a:solidFill>
          <a:ln w="12700">
            <a:solidFill>
              <a:srgbClr val="0B7A6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36667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63040" y="354787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le maschere dei pivot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463040" y="3922776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6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dedicati per località di cache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" y="4553712"/>
            <a:ext cx="6537960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95528" y="4800600"/>
            <a:ext cx="475488" cy="475488"/>
          </a:xfrm>
          <a:prstGeom prst="ellipse">
            <a:avLst/>
          </a:prstGeom>
          <a:solidFill>
            <a:srgbClr val="0B7A63"/>
          </a:solidFill>
          <a:ln w="12700">
            <a:solidFill>
              <a:srgbClr val="0B7A6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4800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63040" y="4681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Pre-calcola la matrice d̃(v, p)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463040" y="505663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6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dist[i·h+j] : 2000 × 16 = 32.000 interi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452360" y="2286000"/>
            <a:ext cx="4114800" cy="3200400"/>
          </a:xfrm>
          <a:prstGeom prst="roundRect">
            <a:avLst>
              <a:gd name="adj" fmla="val 2000"/>
            </a:avLst>
          </a:prstGeom>
          <a:solidFill>
            <a:srgbClr val="E2F1EB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726680" y="24871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Impronta in memoria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26680" y="2907792"/>
            <a:ext cx="3566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 MB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rgbClr val="596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maschere del dataset (2×2000×256 B)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KB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rgbClr val="596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 dell'indice (32.000 int)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B7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Tutto in cache L2/L3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9436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96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build si paga una volta sola (67–193 ms) e l'indice è riutilizzato da tutte le query.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5 · IL CUORE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30352"/>
            <a:ext cx="11000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Ogni candidato attraversa tre filtri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3401568" cy="3291840"/>
          </a:xfrm>
          <a:prstGeom prst="roundRect">
            <a:avLst>
              <a:gd name="adj" fmla="val 1944"/>
            </a:avLst>
          </a:prstGeom>
          <a:solidFill>
            <a:srgbClr val="E2F1EB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0392" y="187452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LIVELLO 1 · pruning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50392" y="2212848"/>
            <a:ext cx="2889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d* = maxⱼ |d~(v,pⱼ) − d~(q,pⱼ)|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50392" y="2926080"/>
            <a:ext cx="28895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interi già in cache, nessun accesso alle maschere. Se d* ≥ peggiore in lista → scartato.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50392" y="4224528"/>
            <a:ext cx="2889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 il 39,3%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995928" y="3063240"/>
            <a:ext cx="3977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96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393692" y="1691640"/>
            <a:ext cx="3401568" cy="3291840"/>
          </a:xfrm>
          <a:prstGeom prst="roundRect">
            <a:avLst>
              <a:gd name="adj" fmla="val 1944"/>
            </a:avLst>
          </a:prstGeom>
          <a:solidFill>
            <a:srgbClr val="F8E8E5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49724" y="187452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B2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LIVELLO 2 · d~ completa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649724" y="2212848"/>
            <a:ext cx="2889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d~(q, v) sulle maschere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49724" y="2926080"/>
            <a:ext cx="28895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qui che si consuma il tempo: ≈ 2,43 milioni di chiamate. È la funzione ottimizzata in SIMD e Assembly.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649724" y="4224528"/>
            <a:ext cx="2889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23A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l'hot spot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795260" y="3063240"/>
            <a:ext cx="3977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96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193024" y="1691640"/>
            <a:ext cx="3401568" cy="3291840"/>
          </a:xfrm>
          <a:prstGeom prst="roundRect">
            <a:avLst>
              <a:gd name="adj" fmla="val 1944"/>
            </a:avLst>
          </a:prstGeom>
          <a:solidFill>
            <a:srgbClr val="E2F1EB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449056" y="187452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LIVELLO 3 · euclidea reale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449056" y="2212848"/>
            <a:ext cx="2889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solo per i k = 8 finalisti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449056" y="2926080"/>
            <a:ext cx="28895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16.000 chiamate totali contro i 4 milioni dell'esatto. È la distanza restituita nel risultato finale.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449056" y="4224528"/>
            <a:ext cx="2889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250× di meno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594360" y="5349240"/>
            <a:ext cx="11000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per query: </a:t>
            </a:r>
            <a:pPr indent="0" marL="0">
              <a:buNone/>
            </a:pPr>
            <a:r>
              <a:rPr lang="en-US" sz="145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coppie ⟨id, δ⟩ con δ = distanza euclidea vera — stessa convenzione (ordine degli slot) dei file di riferimento ufficiali.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6 · ARCHITETTURA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30352"/>
            <a:ext cx="11000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logica, quattro motori intercambiabili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194560" y="1600200"/>
            <a:ext cx="77724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468880" y="1709928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index.c · query.c / query64.c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96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 dell'algoritmo — un'unica versione, zero codice dipendente dall'architettura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194560" y="254203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  approximate_distance()  —  selezione via macro di preprocessore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4360" y="3017520"/>
            <a:ext cx="2651760" cy="1691640"/>
          </a:xfrm>
          <a:prstGeom prst="roundRect">
            <a:avLst>
              <a:gd name="adj" fmla="val 3784"/>
            </a:avLst>
          </a:prstGeom>
          <a:solidFill>
            <a:srgbClr val="EEF1F5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95528" y="318211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1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Scalare C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95528" y="3566160"/>
            <a:ext cx="22494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6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di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96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correttezza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95528" y="4279392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406140" y="3017520"/>
            <a:ext cx="2651760" cy="1691640"/>
          </a:xfrm>
          <a:prstGeom prst="roundRect">
            <a:avLst>
              <a:gd name="adj" fmla="val 3784"/>
            </a:avLst>
          </a:prstGeom>
          <a:solidFill>
            <a:srgbClr val="EEF1F5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07308" y="318211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1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Intrinseci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3607308" y="3566160"/>
            <a:ext cx="22494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6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SSE2 / AVX2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96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unpack + somme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07308" y="4279392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USE_SSE2 / USE_AVX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17920" y="3017520"/>
            <a:ext cx="2651760" cy="1691640"/>
          </a:xfrm>
          <a:prstGeom prst="roundRect">
            <a:avLst>
              <a:gd name="adj" fmla="val 3784"/>
            </a:avLst>
          </a:prstGeom>
          <a:solidFill>
            <a:srgbClr val="EEF1F5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19088" y="318211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1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Assembly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419088" y="3566160"/>
            <a:ext cx="22494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6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 + PSADBW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96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path D=256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19088" y="4279392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USE_SSE2_ASM / USE_AVX_ASM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029700" y="3017520"/>
            <a:ext cx="2651760" cy="1691640"/>
          </a:xfrm>
          <a:prstGeom prst="roundRect">
            <a:avLst>
              <a:gd name="adj" fmla="val 3784"/>
            </a:avLst>
          </a:prstGeom>
          <a:solidFill>
            <a:srgbClr val="EEF1F5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230868" y="318211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1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OpenMP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230868" y="3566160"/>
            <a:ext cx="22494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6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stesso assembly,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96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sui core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230868" y="4279392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-fopenmp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4360" y="5074920"/>
            <a:ext cx="11000232" cy="1097280"/>
          </a:xfrm>
          <a:prstGeom prst="roundRect">
            <a:avLst>
              <a:gd name="adj" fmla="val 5833"/>
            </a:avLst>
          </a:prstGeom>
          <a:solidFill>
            <a:srgbClr val="E2F1EB"/>
          </a:solidFill>
          <a:ln w="9525">
            <a:solidFill>
              <a:srgbClr val="DCE0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" y="521208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conta: </a:t>
            </a:r>
            <a:pPr indent="0" marL="0">
              <a:buNone/>
            </a:pPr>
            <a:r>
              <a:rPr lang="en-US" sz="14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benchmark confronta solo l'effetto dell'ottimizzazione — tutto il resto del programma è letteralmente lo stesso codice. 8 target Code::Blocks ({32, 64 bit} × {scalare, intrinseci, asm, asm+OMP}) + launcher che genera il report automaticamente.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7 · ASSEMBLY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30352"/>
            <a:ext cx="11000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PSADBW: il popcount che non sembra un popcount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600200"/>
            <a:ext cx="6035040" cy="1828800"/>
          </a:xfrm>
          <a:prstGeom prst="roundRect">
            <a:avLst>
              <a:gd name="adj" fmla="val 3500"/>
            </a:avLst>
          </a:prstGeom>
          <a:solidFill>
            <a:srgbClr val="171A20"/>
          </a:solidFill>
          <a:ln w="9525">
            <a:solidFill>
              <a:srgbClr val="DC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83080"/>
            <a:ext cx="5486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9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un termine (pp), blocco da 32 byte — AVX2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6FD3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vpand   </a:t>
            </a:r>
            <a:pPr indent="0" marL="0">
              <a:buNone/>
            </a:pPr>
            <a:r>
              <a:rPr lang="en-US" sz="1400" dirty="0">
                <a:solidFill>
                  <a:srgbClr val="E8EB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ymm4, ymm0, ymm2 </a:t>
            </a:r>
            <a:pPr indent="0" marL="0">
              <a:buNone/>
            </a:pPr>
            <a:r>
              <a:rPr lang="en-US" sz="1400" dirty="0">
                <a:solidFill>
                  <a:srgbClr val="8A9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v⁺ AND w⁺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6FD3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vpsadbw </a:t>
            </a:r>
            <a:pPr indent="0" marL="0">
              <a:buNone/>
            </a:pPr>
            <a:r>
              <a:rPr lang="en-US" sz="1400" dirty="0">
                <a:solidFill>
                  <a:srgbClr val="E8EB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ymm4, ymm4, ymm15</a:t>
            </a:r>
            <a:pPr indent="0" marL="0">
              <a:buNone/>
            </a:pPr>
            <a:r>
              <a:rPr lang="en-US" sz="1400" dirty="0">
                <a:solidFill>
                  <a:srgbClr val="8A9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somma vs zero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6FD3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vpaddq  </a:t>
            </a:r>
            <a:pPr indent="0" marL="0">
              <a:buNone/>
            </a:pPr>
            <a:r>
              <a:rPr lang="en-US" sz="1400" dirty="0">
                <a:solidFill>
                  <a:srgbClr val="E8EB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ymm8, ymm8, ymm4 </a:t>
            </a:r>
            <a:pPr indent="0" marL="0">
              <a:buNone/>
            </a:pPr>
            <a:r>
              <a:rPr lang="en-US" sz="1400" dirty="0">
                <a:solidFill>
                  <a:srgbClr val="8A9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accumulo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370332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PSADBW</a:t>
            </a:r>
            <a:pPr indent="0" marL="0">
              <a:buNone/>
            </a:pPr>
            <a:r>
              <a:rPr lang="en-US" sz="145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(somma di differenze assolute, nata per i codec video) usata </a:t>
            </a:r>
            <a:pPr indent="0" marL="0">
              <a:buNone/>
            </a:pPr>
            <a:r>
              <a:rPr lang="en-US" sz="145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 il registro zero</a:t>
            </a:r>
            <a:pPr indent="0" marL="0">
              <a:buNone/>
            </a:pPr>
            <a:r>
              <a:rPr lang="en-US" sz="145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somma 16/32 byte in una istruzione. Su maschere 0/1, sommare i byte = contare gli 1.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94360" y="480060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96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Niente POPCNT: si resta nel dominio SIMD, senza transiti verso i registri general-purpose.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949440" y="1600200"/>
            <a:ext cx="461772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205472" y="1728216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path D = 256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205472" y="210312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percorso completamente srotolato: 16×16 B (SSE2), 8×32 B (AVX2) — zero salti, pipeline piena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949440" y="3145536"/>
            <a:ext cx="461772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205472" y="327355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ABI Windows x64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205472" y="3648456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puntatori in RCX/RDX/R8/R9, D sullo stack; XMM6–11 e r12–r15 salvati nel prologo; vzeroupper in uscita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949440" y="4690872"/>
            <a:ext cx="461772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205472" y="481888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non allineate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205472" y="5193792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MOVDQU/VMOVDQU: nessun vincolo sui buffer, penalità ≈ 0 su dati in cache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8 · OPENMP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30352"/>
            <a:ext cx="11000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query non si parlano: parallelismo perfetto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645920"/>
            <a:ext cx="6400800" cy="1600200"/>
          </a:xfrm>
          <a:prstGeom prst="roundRect">
            <a:avLst>
              <a:gd name="adj" fmla="val 4000"/>
            </a:avLst>
          </a:prstGeom>
          <a:solidFill>
            <a:srgbClr val="171A20"/>
          </a:solidFill>
          <a:ln w="9525">
            <a:solidFill>
              <a:srgbClr val="DC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5852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FD3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#pragma omp parallel for schedule(dynamic)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B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(qi = 0; qi &lt; nq; qi++)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B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knn_query_single(ds, idx, &amp;Q[qi*D],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B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k, x, &amp;res[qi*k]);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4360" y="3520440"/>
            <a:ext cx="6400800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0392" y="3602736"/>
            <a:ext cx="5852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Nessuna sincronizzazione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50392" y="3913632"/>
            <a:ext cx="5852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dataset, indice e maschere in sola lettura; ogni thread scrive solo nel proprio segmento dei risultati</a:t>
            </a:r>
            <a:endParaRPr lang="en-US" sz="1180" dirty="0"/>
          </a:p>
        </p:txBody>
      </p:sp>
      <p:sp>
        <p:nvSpPr>
          <p:cNvPr id="9" name="Shape 7"/>
          <p:cNvSpPr/>
          <p:nvPr/>
        </p:nvSpPr>
        <p:spPr>
          <a:xfrm>
            <a:off x="594360" y="4480560"/>
            <a:ext cx="6400800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50392" y="4562856"/>
            <a:ext cx="5852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schedule(dynamic)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50392" y="4873752"/>
            <a:ext cx="5852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pruning rende le query disomogenee: l'assegnazione dinamica evita thread inattivi</a:t>
            </a:r>
            <a:endParaRPr lang="en-US" sz="1180" dirty="0"/>
          </a:p>
        </p:txBody>
      </p:sp>
      <p:sp>
        <p:nvSpPr>
          <p:cNvPr id="12" name="Shape 10"/>
          <p:cNvSpPr/>
          <p:nvPr/>
        </p:nvSpPr>
        <p:spPr>
          <a:xfrm>
            <a:off x="594360" y="5440680"/>
            <a:ext cx="6400800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50392" y="5522976"/>
            <a:ext cx="5852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Misura corretta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50392" y="5833872"/>
            <a:ext cx="5852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omp_get_wtime() (tempo di parete) e non clock(), che in multi-thread somma i tempi CPU</a:t>
            </a:r>
            <a:endParaRPr lang="en-US" sz="1180" dirty="0"/>
          </a:p>
        </p:txBody>
      </p:sp>
      <p:sp>
        <p:nvSpPr>
          <p:cNvPr id="15" name="Shape 13"/>
          <p:cNvSpPr/>
          <p:nvPr/>
        </p:nvSpPr>
        <p:spPr>
          <a:xfrm>
            <a:off x="7360920" y="1645920"/>
            <a:ext cx="4206240" cy="4572000"/>
          </a:xfrm>
          <a:prstGeom prst="roundRect">
            <a:avLst>
              <a:gd name="adj" fmla="val 1522"/>
            </a:avLst>
          </a:prstGeom>
          <a:solidFill>
            <a:srgbClr val="E2F1EB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635240" y="18745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 parallelismi che compongono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635240" y="2514600"/>
            <a:ext cx="3657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Thread-level (OpenMP)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6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core si spartiscono le 2000 query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B7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Data-level (SIMD)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6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ogni query, PSADBW macina 16–32 byte per istruzione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9 · RISULTATI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30352"/>
            <a:ext cx="11000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di query: da 4,3 secondi a 88 millisecondi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554480"/>
          <a:ext cx="74066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366760" y="1737360"/>
            <a:ext cx="3200400" cy="1417320"/>
          </a:xfrm>
          <a:prstGeom prst="roundRect">
            <a:avLst>
              <a:gd name="adj" fmla="val 4516"/>
            </a:avLst>
          </a:prstGeom>
          <a:solidFill>
            <a:srgbClr val="E2F1EB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95360" y="18745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49,5×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8595360" y="254203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 query 32 bit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(4352 → 88 ms)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366760" y="3383280"/>
            <a:ext cx="3200400" cy="1417320"/>
          </a:xfrm>
          <a:prstGeom prst="roundRect">
            <a:avLst>
              <a:gd name="adj" fmla="val 4516"/>
            </a:avLst>
          </a:prstGeom>
          <a:solidFill>
            <a:srgbClr val="E2F1EB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595360" y="35204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44,4×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8595360" y="418795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 query 64 bit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(4840 → 109 ms)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436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96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Workload: 2000 query × 2000 punti, D = 256, h = 16, k = 8, x = 64 — valori da report_completo.txt (generato dal launcher automatico).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10 · LETTURA DEI DATI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30352"/>
            <a:ext cx="11000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Quattro letture, anche scomode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645920"/>
            <a:ext cx="5394960" cy="2084832"/>
          </a:xfrm>
          <a:prstGeom prst="roundRect">
            <a:avLst>
              <a:gd name="adj" fmla="val 3070"/>
            </a:avLst>
          </a:prstGeom>
          <a:solidFill>
            <a:srgbClr val="E2F1EB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105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Il salto è l'Assembly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484632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13× (32 bit) e 6,9× (64 bit) sul solo cambio di motore: PSADBW batte la catena unpack+somme degli intrinseci, e il fast path D=256 elimina il controllo di ciclo.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9632" y="1645920"/>
            <a:ext cx="5394960" cy="2084832"/>
          </a:xfrm>
          <a:prstGeom prst="roundRect">
            <a:avLst>
              <a:gd name="adj" fmla="val 3070"/>
            </a:avLst>
          </a:prstGeom>
          <a:solidFill>
            <a:srgbClr val="E2F1EB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73952" y="18105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OpenMP quasi lineare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473952" y="2240280"/>
            <a:ext cx="484632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334 → 88 ms e 706 → 109 ms: query indipendenti e dati in sola lettura sono il caso ideale; il tetto è dato da core fisici e banda di memoria.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4360" y="3931920"/>
            <a:ext cx="5394960" cy="2084832"/>
          </a:xfrm>
          <a:prstGeom prst="roundRect">
            <a:avLst>
              <a:gd name="adj" fmla="val 3070"/>
            </a:avLst>
          </a:prstGeom>
          <a:solidFill>
            <a:srgbClr val="EEF1F5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68680" y="40965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1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Legge di Amdahl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68680" y="4526280"/>
            <a:ext cx="484632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l'ottimizzazione la query costa quanto il build (88 vs 88 ms): abbattuto il termine dominante emergono i costi prima invisibili. Prossimo bersaglio: la quantizzazione.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99632" y="3931920"/>
            <a:ext cx="5394960" cy="2084832"/>
          </a:xfrm>
          <a:prstGeom prst="roundRect">
            <a:avLst>
              <a:gd name="adj" fmla="val 3070"/>
            </a:avLst>
          </a:prstGeom>
          <a:solidFill>
            <a:srgbClr val="F8E8E5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73952" y="40965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B23A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Nota metodologica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6473952" y="4526280"/>
            <a:ext cx="484632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-O3 è presente solo nei target Assembly/OpenMP: il divario con gli intrinseci (compilati a -O0) è in parte gonfiato. La conclusione qualitativa regge, i rapporti vanno letti con questa tara.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11 · IL PACCHETTO PYTHON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30352"/>
            <a:ext cx="11000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Stesso codice verificato, API in stile scikit-learn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645920"/>
            <a:ext cx="5989320" cy="804672"/>
          </a:xfrm>
          <a:prstGeom prst="roundRect">
            <a:avLst>
              <a:gd name="adj" fmla="val 7955"/>
            </a:avLst>
          </a:prstGeom>
          <a:solidFill>
            <a:srgbClr val="E2F1EB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0392" y="17099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/ NumPy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50392" y="20299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61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fit(DS, n_pivots, quant_level) · predict(Q, k)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37560" y="244144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679192"/>
            <a:ext cx="5989320" cy="804672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50392" y="2743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Wrapper C-API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50392" y="3063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61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validazioni · refcount · PyCapsule — zero copie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337560" y="347472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3712464"/>
            <a:ext cx="5989320" cy="804672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50392" y="377647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Adattatore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50392" y="40965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61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params → Matrix/Index · chiama build_index / knn_query_all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337560" y="450799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" y="4745736"/>
            <a:ext cx="5989320" cy="804672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0392" y="4809744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Nucleo condiviso C + Assembly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50392" y="512978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61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gli stessi sorgenti degli eseguibili (macro USE_*_ASM)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5742432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96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moduli: quantpivot32 (SSE2) · quantpivot64 (AVX2) · quantpivot64omp (AVX2 + OpenMP)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949440" y="1645920"/>
            <a:ext cx="4617720" cy="2148840"/>
          </a:xfrm>
          <a:prstGeom prst="roundRect">
            <a:avLst>
              <a:gd name="adj" fmla="val 2979"/>
            </a:avLst>
          </a:prstGeom>
          <a:solidFill>
            <a:srgbClr val="171A20"/>
          </a:solidFill>
          <a:ln w="9525">
            <a:solidFill>
              <a:srgbClr val="DCE0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0" y="1828800"/>
            <a:ext cx="41148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B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Gruppo_Ferrari_DeFusco_Cuconato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EB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.quantpivot64omp import QuantPivot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6FD3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= QuantPivot().fit(DS, 16, 64)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6FD3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ids, dists = m.predict(Q, k=8)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949440" y="4023360"/>
            <a:ext cx="4617720" cy="932688"/>
          </a:xfrm>
          <a:prstGeom prst="roundRect">
            <a:avLst>
              <a:gd name="adj" fmla="val 6863"/>
            </a:avLst>
          </a:prstGeom>
          <a:solidFill>
            <a:srgbClr val="E2F1EB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205472" y="4114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con MinGW-w64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205472" y="44531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.S sono GAS + flag GCC: build_ext custom (MSVC non basta)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949440" y="5102352"/>
            <a:ext cx="4617720" cy="932688"/>
          </a:xfrm>
          <a:prstGeom prst="roundRect">
            <a:avLst>
              <a:gd name="adj" fmla="val 6863"/>
            </a:avLst>
          </a:prstGeom>
          <a:solidFill>
            <a:srgbClr val="E2F1EB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205472" y="519379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Wheel autosufficiente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205472" y="55321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delvewheel incorpora le DLL GCC: basta pip install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12 · CORRETTEZZA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30352"/>
            <a:ext cx="11000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Verificato per riproduzione indipendente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737360"/>
            <a:ext cx="1100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2000 / 2000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1645920" y="2788920"/>
            <a:ext cx="8869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identiche ai riferimenti ufficiali — stessi id nello stesso ordine, stesse distanze — a 32 e 64 bit, per ogni configurazione e per i tre moduli Python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94360" y="3794760"/>
            <a:ext cx="3538728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0392" y="3977640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golden ufficiali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50392" y="4553712"/>
            <a:ext cx="3026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confronto automatico a fine run negli eseguibili (tolleranza 10⁻³ float, 10⁻⁹ double)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25112" y="3794760"/>
            <a:ext cx="3538728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81144" y="3977640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Reimplementazione indipendente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81144" y="4553712"/>
            <a:ext cx="3026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l'algoritmo riscritto da zero in NumPy dalla specifica riproduce i golden bit a bit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55864" y="3794760"/>
            <a:ext cx="3538728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9525">
            <a:solidFill>
              <a:srgbClr val="DCE0E6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11896" y="3977640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end-to-end del pacchetto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311896" y="4553712"/>
            <a:ext cx="3026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+ predict dai tre moduli — attraverso wrapper, nucleo C e Assembly — 2000/2000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5760720"/>
            <a:ext cx="11000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96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implementazioni scritte in linguaggi e stili diversi che producono risultati identici: la probabilità che condividano lo stesso errore è trascurabile.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B7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13 · CONCLUSIONI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1051560"/>
            <a:ext cx="10972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Stesso algoritmo, stessa logica:
</a:t>
            </a:r>
            <a:pPr indent="0" marL="0">
              <a:buNone/>
            </a:pPr>
            <a:r>
              <a:rPr lang="en-US" sz="4300" b="1" dirty="0">
                <a:solidFill>
                  <a:srgbClr val="6FD3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4,3 s a 88 ms</a:t>
            </a:r>
            <a:endParaRPr lang="en-US" sz="4300" dirty="0"/>
          </a:p>
        </p:txBody>
      </p:sp>
      <p:sp>
        <p:nvSpPr>
          <p:cNvPr id="4" name="Text 2"/>
          <p:cNvSpPr/>
          <p:nvPr/>
        </p:nvSpPr>
        <p:spPr>
          <a:xfrm>
            <a:off x="594360" y="3063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D3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Scendere di livello dove conta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344728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funzione critica (2,4 M chiamate) ridotta a PAND + PSADBW, srotolata per D = 256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594360" y="39959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D3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Salire di livello dove si può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4379976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pragma OpenMP sulle query indipendenti moltiplica per i core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94360" y="492861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D3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Misurare con onestà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94360" y="5312664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wall-time, valori committati, limiti dichiarati: d̃ è una similarità, -O3 asimmetrico, percorsi D≠256 non battuti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594360" y="6035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Grazie — domande?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15200" y="6144768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Ferrari · De Fusco · Cuconato — Architetture 2025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K-NN Approssimato — Progetto Architetture 2025</dc:title>
  <dc:subject>PptxGenJS Presentation</dc:subject>
  <dc:creator>Ferrari, De Fusco, Cuconato</dc:creator>
  <cp:lastModifiedBy>Ferrari, De Fusco, Cuconato</cp:lastModifiedBy>
  <cp:revision>1</cp:revision>
  <dcterms:created xsi:type="dcterms:W3CDTF">2026-07-05T16:06:19Z</dcterms:created>
  <dcterms:modified xsi:type="dcterms:W3CDTF">2026-07-05T16:06:19Z</dcterms:modified>
</cp:coreProperties>
</file>